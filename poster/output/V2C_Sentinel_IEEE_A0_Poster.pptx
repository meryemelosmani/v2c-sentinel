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e5a6854b114d5e" /><Relationship Type="http://schemas.openxmlformats.org/officeDocument/2006/relationships/extended-properties" Target="/docProps/app.xml" Id="R3b1f684483844e0e" /><Relationship Type="http://schemas.openxmlformats.org/officeDocument/2006/relationships/officeDocument" Target="/ppt/presentation.xml" Id="R3570c9abe7fb41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fb0b5e7b974de6"/>
  </p:sldMasterIdLst>
  <p:notesMasterIdLst>
    <p:notesMasterId xmlns:r="http://schemas.openxmlformats.org/officeDocument/2006/relationships" r:id="R03b285436db84205"/>
  </p:notesMasterIdLst>
  <p:sldIdLst>
    <p:sldId xmlns:r="http://schemas.openxmlformats.org/officeDocument/2006/relationships" id="256" r:id="R0cc26cef67b942e5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6786b350704e9a" /><Relationship Type="http://schemas.openxmlformats.org/officeDocument/2006/relationships/slideMaster" Target="/ppt/slideMasters/slideMaster1.xml" Id="R7bfb0b5e7b974de6" /><Relationship Type="http://schemas.openxmlformats.org/officeDocument/2006/relationships/notesMaster" Target="/ppt/notesMasters/notesMaster1.xml" Id="R03b285436db84205" /><Relationship Type="http://schemas.openxmlformats.org/officeDocument/2006/relationships/presProps" Target="/ppt/presProps.xml" Id="R65a7ff5a786a42ad" /><Relationship Type="http://schemas.openxmlformats.org/officeDocument/2006/relationships/tableStyles" Target="/ppt/tableStyles.xml" Id="R2e4829caacb142cf" /><Relationship Type="http://schemas.openxmlformats.org/officeDocument/2006/relationships/slide" Target="/ppt/slides/slide1.xml" Id="R0cc26cef67b942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8841e1bb7040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9d93a056c94e70" /><Relationship Type="http://schemas.openxmlformats.org/officeDocument/2006/relationships/notesMaster" Target="/ppt/notesMasters/notesMaster1.xml" Id="Rf551d8a4716f49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Poster evidence sources:</a:t>
            </a:r>
          </a:p>
          <a:p xmlns:a="http://schemas.openxmlformats.org/drawingml/2006/main">
            <a:r>
              <a:t>1. M. E. Verma et al., A comprehensive guide to CAN IDS data and introduction of the ROAD dataset, PLOS ONE, 2024. DOI: 10.1371/journal.pone.0296879.</a:t>
            </a:r>
          </a:p>
          <a:p xmlns:a="http://schemas.openxmlformats.org/drawingml/2006/main">
            <a:r>
              <a:t>2. X. Zhang et al., 5G communication delay dataset for cloud-based vehicle planning and control, Scientific Data, 2026. DOI: 10.1038/s41597-026-07239-7.</a:t>
            </a:r>
          </a:p>
          <a:p xmlns:a="http://schemas.openxmlformats.org/drawingml/2006/main">
            <a:r>
              <a:t>3. Local project outputs: results/final_two_level/summary.csv, paper_table.csv, all_runs.csv.</a:t>
            </a:r>
          </a:p>
          <a:p xmlns:a="http://schemas.openxmlformats.org/drawingml/2006/main">
            <a:r>
              <a:t>4. Hero visual generated with OpenAI ImageGen for this poster; no text embedded in the generated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5300f5652d4c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320e54391b4fea" /><Relationship Type="http://schemas.openxmlformats.org/officeDocument/2006/relationships/slideLayout" Target="/ppt/slideLayouts/slideLayout1.xml" Id="Racf0ada8e4e048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f0ada8e4e048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21abaf62848d9" /><Relationship Type="http://schemas.openxmlformats.org/officeDocument/2006/relationships/image" Target="/ppt/media/image.png" Id="R50d4f4f9997c45d9" /><Relationship Type="http://schemas.openxmlformats.org/officeDocument/2006/relationships/image" Target="/ppt/media/image2.png" Id="R10e9d6f6b6fb4041" /><Relationship Type="http://schemas.openxmlformats.org/officeDocument/2006/relationships/image" Target="/ppt/media/image3.png" Id="Rf29d48e44b8c426d" /><Relationship Type="http://schemas.openxmlformats.org/officeDocument/2006/relationships/image" Target="/ppt/media/image4.png" Id="R5ca873453e804d42" /><Relationship Type="http://schemas.openxmlformats.org/officeDocument/2006/relationships/image" Target="/ppt/media/image5.png" Id="Ra1fd10afc29944c8" /><Relationship Type="http://schemas.openxmlformats.org/officeDocument/2006/relationships/notesSlide" Target="/ppt/notesSlides/notesSlide1.xml" Id="Ra22bc3c29b3148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B32A4CC-DCD8-4828-A32E-D4CF3C06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574B9-F5B2-4B5E-A50D-ECE2C021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0"/>
            <a:ext cx="4280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60C2A-51D4-41DD-9649-D15B2689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"/>
            <a:ext cx="1104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V2C-Sentinel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E7841-60F6-4DFE-BE99-6DA20700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30480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Deadline-Aware Two-Level Architecture for CAN Masquerade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C2FB9-A3AB-4673-B7A0-63EE05E7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3095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Meryem EL OSMANI¹ · Nissrine BESTOUT¹ · Asmaa Berdigh²* · Khalid EL YASSINI³*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D0400-0D98-4639-A392-10031913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390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DCEBF4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DCEBF4"/>
                </a:solidFill>
                <a:latin typeface="Arial"/>
                <a:ea typeface="Arial"/>
                <a:cs typeface="Arial"/>
              </a:rPr>
              <a:t>¹ Master IASDO, Faculty of Sciences Meknes, Moulay Ismail University  |  ² IA Laboratory, International University of Rabat  |  ³ Computer Science Department, Faculty of Sciences Meknes, Moulay Ismail University  |  * Supervisors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C49D7-DCD6-4DC9-8308-97BE4BBC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0" y="6191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b="1">
                <a:solidFill>
                  <a:srgbClr val="A9DFF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A9DFF0"/>
                </a:solidFill>
                <a:latin typeface="Arial"/>
                <a:ea typeface="Arial"/>
                <a:cs typeface="Arial"/>
              </a:rPr>
              <a:t>IEEE-STYLE A0 POSTER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A39E5-FE2B-496F-8F1F-B18750BD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10050"/>
            <a:ext cx="42805350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EFFA9-A7A3-494C-A402-AEAAC9B5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1828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73B66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73B66"/>
                </a:solidFill>
                <a:latin typeface="Arial"/>
                <a:ea typeface="Arial"/>
                <a:cs typeface="Arial"/>
              </a:rPr>
              <a:t>Local warning first. Cloud confirmation only when requested.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F23B4-F602-4161-9526-C6BF3A1B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17430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V2C-Sentinel separates two operational decisions: an immediate level-1 warning from a local detector, and a level-2 confirmation returned through a replayed cellular-delay channel. A token bucket limits cloud requests and exposes the trade-off between confirmation speed and communication demand.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7CEB3-55E4-43F0-9CEE-F4AE361B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20050"/>
            <a:ext cx="53340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066A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04125-381B-4CAE-911A-C2878262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2105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ms local warning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4D8AD-2B35-46F9-A26F-D01816D8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8020050"/>
            <a:ext cx="53340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D4711-9ECD-486C-9357-45880835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2105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29–31 ms best confirmation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ABAF0-5B69-4C7A-817D-283F4AC9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020050"/>
            <a:ext cx="59055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73B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29058-3159-45BE-9855-7C8DD087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821055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150 / 300 ms deadlines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4f4f9997c45d9"/>
          <a:stretch xmlns:a="http://schemas.openxmlformats.org/drawingml/2006/main"/>
        </p:blipFill>
        <p:spPr>
          <a:xfrm xmlns:a="http://schemas.openxmlformats.org/drawingml/2006/main">
            <a:off x="25717500" y="4495800"/>
            <a:ext cx="9525000" cy="4762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8D559-2B10-4D42-B29C-46F01075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9906000"/>
            <a:ext cx="28575" cy="1847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75786-AABC-4CF1-A304-1272A06B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25" y="9906000"/>
            <a:ext cx="28575" cy="1847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7E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CA6BF-7A14-4E83-BEBF-45113485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906000"/>
            <a:ext cx="1271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066A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6A1"/>
                </a:solidFill>
                <a:latin typeface="Arial"/>
                <a:ea typeface="Arial"/>
                <a:cs typeface="Arial"/>
              </a:rPr>
              <a:t>PROBLEM AND CONTRIBUTION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34268-289E-4573-BCFF-E38E040D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420350"/>
            <a:ext cx="12715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C179D-2A78-4B37-B423-26551486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0"/>
            <a:ext cx="12715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CAN intrusion detection must distinguish malicious activity from legitimate vehicle traffic while producing a warning early enough to support action. A remote model can add evidence, but request admission and cellular delay determine when that evidence becomes available.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925F7E-BF41-4224-A868-86CAFBB8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573000"/>
            <a:ext cx="1271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F28C28"/>
                </a:solidFill>
                <a:latin typeface="Arial"/>
                <a:ea typeface="Arial"/>
                <a:cs typeface="Arial"/>
              </a:rPr>
              <a:t>CONTRIBUTION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5A8BAE-157B-4E3C-8D83-788B9BC6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954000"/>
            <a:ext cx="12715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Preserves every local positive as a level-1 warning</a:t>
            </a:r>
          </a:p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Sends eligible positives to a separate cloud detector</a:t>
            </a:r>
          </a:p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Replays measured 5G delay under finite request budgets</a:t>
            </a:r>
          </a:p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Reports warning and confirmation timing separately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69701-236A-46C0-9673-207B5E4A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0"/>
            <a:ext cx="1271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066A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6A1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BEC605-9475-4AE6-9C14-3A9F0A58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54350"/>
            <a:ext cx="12715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9d6f6b6fb4041"/>
          <a:stretch xmlns:a="http://schemas.openxmlformats.org/drawingml/2006/main"/>
        </p:blipFill>
        <p:spPr>
          <a:xfrm xmlns:a="http://schemas.openxmlformats.org/drawingml/2006/main">
            <a:off x="4491389" y="16002000"/>
            <a:ext cx="6019098" cy="581025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450A0-C388-42EE-A10B-38D1E832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145625"/>
            <a:ext cx="1271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066A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6A1"/>
                </a:solidFill>
                <a:latin typeface="Arial"/>
                <a:ea typeface="Arial"/>
                <a:cs typeface="Arial"/>
              </a:rPr>
              <a:t>DATA AND MODELS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418B24-557A-4D60-8E94-140375A3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59975"/>
            <a:ext cx="12715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78947A-5D84-4A41-A39B-3E419640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907625"/>
            <a:ext cx="1271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ROAD CAN recordings</a:t>
            </a:r>
          </a:p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Development: 63,260 attack messages; 874,018 normal messages</a:t>
            </a:r>
          </a:p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Test: 38,003 attack messages; 106,939 normal messages</a:t>
            </a:r>
          </a:p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One evaluated attack episode and one normal recording per split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8C924C-3952-413A-A928-67976827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431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0066A1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066A1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895891-0C90-4DD6-82F2-09F8967B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431750"/>
            <a:ext cx="11287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Logistic regression; 95th-percentile attack-class threshold; assumed 5 ms processing.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A195B8-14D4-4729-B1DE-75FE038C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336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F28C28"/>
                </a:solidFill>
                <a:latin typeface="Arial"/>
                <a:ea typeface="Arial"/>
                <a:cs typeface="Arial"/>
              </a:rPr>
              <a:t>CLOUD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36719C-33AC-4820-8717-3EE5F22F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336625"/>
            <a:ext cx="11287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Random forest; requests admitted by token bucket; assumed 10 ms processing plus replayed cellular delay.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243D25-35DF-455D-A2A5-BE95628D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9906000"/>
            <a:ext cx="1271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066A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6A1"/>
                </a:solidFill>
                <a:latin typeface="Arial"/>
                <a:ea typeface="Arial"/>
                <a:cs typeface="Arial"/>
              </a:rPr>
              <a:t>EXPERIMENTAL DESIGN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F73405-6EAB-4B95-8383-EF921F74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10420350"/>
            <a:ext cx="12715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B27821-86D5-4E53-B149-F382602E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10668000"/>
            <a:ext cx="12715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Chronological replay with request budgets of 1, 5, 10, 50 requests/s and an unrestricted condition. Each configuration is evaluated at 150 ms and 300 ms reporting deadlines. Local warnings remain visible regardless of cloud outcome.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321B65-CCB7-4A85-BDC6-495442B4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12573000"/>
            <a:ext cx="1271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066A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6A1"/>
                </a:solidFill>
                <a:latin typeface="Arial"/>
                <a:ea typeface="Arial"/>
                <a:cs typeface="Arial"/>
              </a:rPr>
              <a:t>CONFIRMATION LATENCY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66E54E-DAD7-4D72-962B-695028D3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13087350"/>
            <a:ext cx="12715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pic>
        <p:nvPicPr>
          <p:cNvPr id="1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d48e44b8c426d"/>
          <a:stretch xmlns:a="http://schemas.openxmlformats.org/drawingml/2006/main"/>
        </p:blipFill>
        <p:spPr>
          <a:xfrm xmlns:a="http://schemas.openxmlformats.org/drawingml/2006/main">
            <a:off x="17505231" y="13335000"/>
            <a:ext cx="7709163" cy="60960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F518CE-A131-4FB9-BC2D-694BB6B1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19573875"/>
            <a:ext cx="12715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Development confirmation improves from 3.208 s at 1 request/s to 223.6 ms at 50 requests/s and 29.0 ms without admission limits. Test confirmation reaches 129.8 ms at 5–10 requests/s and 31.0 ms at 50 requests/s or unrestricted.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964811-8816-4D8D-891D-B8D30547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21574125"/>
            <a:ext cx="1271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066A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6A1"/>
                </a:solidFill>
                <a:latin typeface="Arial"/>
                <a:ea typeface="Arial"/>
                <a:cs typeface="Arial"/>
              </a:rPr>
              <a:t>DEADLINE OUTCOMES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B4CF6E-5D63-4761-8761-55417BF9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22088475"/>
            <a:ext cx="12715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graphicFrame>
        <p:nvGraphicFramePr>
          <p:cNvPr id="105" name=""/>
          <p:cNvGraphicFramePr/>
          <p:nvPr/>
        </p:nvGraphicFramePr>
        <p:xfrm>
          <a:off xmlns:a="http://schemas.openxmlformats.org/drawingml/2006/main" x="15001875" y="22336125"/>
          <a:ext xmlns:a="http://schemas.openxmlformats.org/drawingml/2006/main" cx="12715875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43175"/>
                <a:gridCol w="2543175"/>
                <a:gridCol w="2543175"/>
                <a:gridCol w="2543175"/>
                <a:gridCol w="2543175"/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Budget</a:t>
                      </a:r>
                    </a:p>
                  </a:txBody>
                  <a:tcPr marL="76200" marR="76200" marT="57150" marB="57150">
                    <a:solidFill>
                      <a:srgbClr val="073B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Dev 150</a:t>
                      </a:r>
                    </a:p>
                  </a:txBody>
                  <a:tcPr marL="76200" marR="76200" marT="57150" marB="57150">
                    <a:solidFill>
                      <a:srgbClr val="073B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Dev 300</a:t>
                      </a:r>
                    </a:p>
                  </a:txBody>
                  <a:tcPr marL="76200" marR="76200" marT="57150" marB="57150">
                    <a:solidFill>
                      <a:srgbClr val="073B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150</a:t>
                      </a:r>
                    </a:p>
                  </a:txBody>
                  <a:tcPr marL="76200" marR="76200" marT="57150" marB="57150">
                    <a:solidFill>
                      <a:srgbClr val="073B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300</a:t>
                      </a:r>
                    </a:p>
                  </a:txBody>
                  <a:tcPr marL="76200" marR="76200" marT="57150" marB="57150">
                    <a:solidFill>
                      <a:srgbClr val="073B6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 req/s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0/1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0/1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0/1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0/1</a:t>
                      </a:r>
                    </a:p>
                  </a:txBody>
                  <a:tcPr marL="76200" marR="76200" marT="57150" marB="57150"/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5 req/s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0/1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0/1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1/1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1/1</a:t>
                      </a:r>
                    </a:p>
                  </a:txBody>
                  <a:tcPr marL="76200" marR="76200" marT="57150" marB="57150"/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10 req/s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0/1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0/1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1/1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1/1</a:t>
                      </a:r>
                    </a:p>
                  </a:txBody>
                  <a:tcPr marL="76200" marR="76200" marT="57150" marB="57150"/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50 req/s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0/1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1/1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1/1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1/1</a:t>
                      </a:r>
                    </a:p>
                  </a:txBody>
                  <a:tcPr marL="76200" marR="76200" marT="57150" marB="57150"/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Unrestricted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1/1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1/1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1/1</a:t>
                      </a:r>
                    </a:p>
                  </a:txBody>
                  <a:tcPr marL="76200" marR="76200" marT="57150" marB="5715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1/1</a:t>
                      </a:r>
                    </a:p>
                  </a:txBody>
                  <a:tcPr marL="76200" marR="76200" marT="57150" marB="57150"/>
                </a:tc>
              </a:tr>
            </a:tbl>
          </a:graphicData>
        </a:graphic>
      </p:graphicFrame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F0E1D0-2AA6-4A99-9D8C-0A870CBC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26241375"/>
            <a:ext cx="1271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536270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536270"/>
                </a:solidFill>
                <a:latin typeface="Arial"/>
                <a:ea typeface="Arial"/>
                <a:cs typeface="Arial"/>
              </a:rPr>
              <a:t>Cell values are timely confirmations / evaluated attack episodes. With one episode per split, these are observed case outcomes rather than population detection rates.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69AA4E-C6EF-40D2-9F33-E67ECBBD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0" y="9906000"/>
            <a:ext cx="1271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066A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6A1"/>
                </a:solidFill>
                <a:latin typeface="Arial"/>
                <a:ea typeface="Arial"/>
                <a:cs typeface="Arial"/>
              </a:rPr>
              <a:t>FALSE-ALERT BURDEN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87CD4C-8E53-4FB8-A75E-0B87AF28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0" y="10420350"/>
            <a:ext cx="12715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873453e804d42"/>
          <a:stretch xmlns:a="http://schemas.openxmlformats.org/drawingml/2006/main"/>
        </p:blipFill>
        <p:spPr>
          <a:xfrm xmlns:a="http://schemas.openxmlformats.org/drawingml/2006/main">
            <a:off x="31609266" y="10668000"/>
            <a:ext cx="7218843" cy="49530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9BAFF4-2B60-44EE-8B45-EA6CF06F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0" y="15716250"/>
            <a:ext cx="12715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Level 1 produced approximately 3,568 and 3,620 grouped false alerts per hour on the development and test normal recordings. Level 2 produced no observed false alerts on those two short recordings. This does not establish a zero population false-alert rate.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E2173C-2BB0-47F4-AD18-8945E16F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0" y="17621250"/>
            <a:ext cx="1271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066A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6A1"/>
                </a:solidFill>
                <a:latin typeface="Arial"/>
                <a:ea typeface="Arial"/>
                <a:cs typeface="Arial"/>
              </a:rPr>
              <a:t>COMMUNICATION DEMAND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5E8BB6-F55F-4688-A995-01052C71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0" y="18135600"/>
            <a:ext cx="12715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d10afc29944c8"/>
          <a:stretch xmlns:a="http://schemas.openxmlformats.org/drawingml/2006/main"/>
        </p:blipFill>
        <p:spPr>
          <a:xfrm xmlns:a="http://schemas.openxmlformats.org/drawingml/2006/main">
            <a:off x="32090116" y="18383250"/>
            <a:ext cx="6257143" cy="466725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A5C3A2-7107-4E99-B42A-99CEB6F1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0" y="23098125"/>
            <a:ext cx="12715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Unrestricted replay admitted 49,539 development requests and 6,503 test requests. Finite budgets reduce network load but can delay the first useful confirmation beyond the application deadline.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9D8060-37D3-43F8-BE18-552D4AEB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0" y="24574500"/>
            <a:ext cx="1271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066A1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66A1"/>
                </a:solidFill>
                <a:latin typeface="Arial"/>
                <a:ea typeface="Arial"/>
                <a:cs typeface="Arial"/>
              </a:rPr>
              <a:t>WHAT THE EVIDENCE SUPPORTS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E2FDB9-AE40-4416-AA48-DDF6C70A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0" y="25088850"/>
            <a:ext cx="12715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C253B21-7E0D-4ED7-AD15-63A618B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0" y="25336500"/>
            <a:ext cx="12715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SUPPORTED</a:t>
            </a:r>
          </a:p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Immediate local warnings in both evaluated attack episodes</a:t>
            </a:r>
          </a:p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Cloud confirmation reduced observed false alerts on two normal recordings</a:t>
            </a:r>
          </a:p>
          <a:p xmlns:a="http://schemas.openxmlformats.org/drawingml/2006/main">
            <a:pPr algn="l">
              <a:defRPr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Confirmation latency depends on request budget and recording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CA52D7-3DEB-4BEA-B17D-80981A41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0" y="27241500"/>
            <a:ext cx="1271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B74636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B74636"/>
                </a:solidFill>
                <a:latin typeface="Arial"/>
                <a:ea typeface="Arial"/>
                <a:cs typeface="Arial"/>
              </a:rPr>
              <a:t>LIMITATIONS</a:t>
            </a:r>
          </a:p>
          <a:p xmlns:a="http://schemas.openxmlformats.org/drawingml/2006/main">
            <a:pPr algn="l">
              <a:defRPr b="0">
                <a:solidFill>
                  <a:srgbClr val="B74636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B74636"/>
                </a:solidFill>
                <a:latin typeface="Arial"/>
                <a:ea typeface="Arial"/>
                <a:cs typeface="Arial"/>
              </a:rPr>
              <a:t>One attack episode per split; short normal exposure; assumed processing times; both models executed on the development computer; no target-vehicle or production-cloud validation.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D88076-A965-4E0B-B4D2-413F275E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765500"/>
            <a:ext cx="4280535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66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90E306-3F2C-4C46-8251-45365EB2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226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0A6D6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A6D6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E5CCC0-00D0-469D-BA4E-C2F7BBA7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984575"/>
            <a:ext cx="2571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 assistance can strengthen alert confidence, but it cannot replace the immediate local warning. Confirmation must be reported with its admission policy, communication delay, and deadline.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325175-F8A7-42E9-9D6C-6307448D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0" y="2902267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819"/>
          </a:bodyPr>
          <a:lstStyle xmlns:a="http://schemas.openxmlformats.org/drawingml/2006/main"/>
          <a:p xmlns:a="http://schemas.openxmlformats.org/drawingml/2006/main">
            <a:pPr algn="r">
              <a:defRPr b="0">
                <a:solidFill>
                  <a:srgbClr val="DCEBF4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DCEBF4"/>
                </a:solidFill>
                <a:latin typeface="Arial"/>
                <a:ea typeface="Arial"/>
                <a:cs typeface="Arial"/>
              </a:rPr>
              <a:t>Sources: ROAD dataset [Verma et al., 2024] · CICV5G delay data [Zhang et al., 2026] · Saved V2C-Sentinel replay outputs</a:t>
            </a:r>
          </a:p>
        </p:txBody>
      </p:sp>
    </p:spTree>
    <p:extLst>
      <p:ext uri="{BB962C8B-B14F-4D97-AF65-F5344CB8AC3E}">
        <p14:creationId xmlns:p14="http://schemas.microsoft.com/office/powerpoint/2010/main" val="995916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2026-09-27T21:42:15.8220000Z</dcterms:created>
  <dcterms:modified xsi:type="dcterms:W3CDTF">2026-09-27T21:42:15.8220000Z</dcterms:modified>
</coreProperties>
</file>